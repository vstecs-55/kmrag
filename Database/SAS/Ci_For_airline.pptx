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2" d="100"/>
          <a:sy n="42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6334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21726">
              <a:alpha val="62000"/>
            </a:srgbClr>
          </a:solidFill>
          <a:ln/>
        </p:spPr>
        <p:txBody>
          <a:bodyPr/>
          <a:lstStyle/>
          <a:p>
            <a:endParaRPr lang="th-TH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723900"/>
            <a:ext cx="960041" cy="4000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198846" y="784225"/>
            <a:ext cx="5251511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FFFFFF">
                    <a:alpha val="8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BRIEFING FOR AOT LEADERSHIP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990600" y="6550025"/>
            <a:ext cx="533400" cy="28575"/>
          </a:xfrm>
          <a:prstGeom prst="roundRect">
            <a:avLst>
              <a:gd name="adj" fmla="val 50000"/>
            </a:avLst>
          </a:prstGeom>
          <a:solidFill>
            <a:srgbClr val="6FC7E8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7" name="Text 3"/>
          <p:cNvSpPr/>
          <p:nvPr/>
        </p:nvSpPr>
        <p:spPr>
          <a:xfrm>
            <a:off x="1676400" y="6424613"/>
            <a:ext cx="318471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F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OVERVIEW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990600" y="6951663"/>
            <a:ext cx="14716125" cy="1747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6600" b="1" kern="0" spc="-165" dirty="0">
                <a:solidFill>
                  <a:srgbClr val="F0B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SAWASDEE by AOT </a:t>
            </a:r>
            <a:r>
              <a:rPr lang="en-US" sz="6600" b="1" kern="0" spc="-1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SAS Customer Intelligence 360</a:t>
            </a:r>
            <a:endParaRPr lang="en-US" sz="6600" dirty="0"/>
          </a:p>
        </p:txBody>
      </p:sp>
      <p:sp>
        <p:nvSpPr>
          <p:cNvPr id="9" name="Text 5"/>
          <p:cNvSpPr/>
          <p:nvPr/>
        </p:nvSpPr>
        <p:spPr>
          <a:xfrm>
            <a:off x="990600" y="8947150"/>
            <a:ext cx="16796004" cy="463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kern="0" spc="-29" dirty="0">
                <a:solidFill>
                  <a:srgbClr val="FFFFFF">
                    <a:alpha val="8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the difference — and the opportunity</a:t>
            </a:r>
            <a:endParaRPr lang="en-US" sz="2850" dirty="0"/>
          </a:p>
        </p:txBody>
      </p:sp>
      <p:sp>
        <p:nvSpPr>
          <p:cNvPr id="10" name="Text 6"/>
          <p:cNvSpPr/>
          <p:nvPr/>
        </p:nvSpPr>
        <p:spPr>
          <a:xfrm>
            <a:off x="16470809" y="9474200"/>
            <a:ext cx="902791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08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925513"/>
            <a:ext cx="495300" cy="28575"/>
          </a:xfrm>
          <a:prstGeom prst="roundRect">
            <a:avLst>
              <a:gd name="adj" fmla="val 50000"/>
            </a:avLst>
          </a:prstGeom>
          <a:solidFill>
            <a:srgbClr val="1C6FB3">
              <a:alpha val="85000"/>
            </a:srgbClr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" name="Text 1"/>
          <p:cNvSpPr/>
          <p:nvPr/>
        </p:nvSpPr>
        <p:spPr>
          <a:xfrm>
            <a:off x="1638300" y="800100"/>
            <a:ext cx="442403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70" dirty="0">
                <a:solidFill>
                  <a:srgbClr val="1C6F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DIFFERENCE IN ONE LINE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0600" y="1365250"/>
            <a:ext cx="1530477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is what your passengers see. One is what makes it smart.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90600" y="2984500"/>
            <a:ext cx="16306800" cy="6045200"/>
          </a:xfrm>
          <a:prstGeom prst="roundRect">
            <a:avLst>
              <a:gd name="adj" fmla="val 3782"/>
            </a:avLst>
          </a:prstGeom>
          <a:ln w="12700">
            <a:solidFill>
              <a:srgbClr val="E2E7E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 4"/>
          <p:cNvSpPr/>
          <p:nvPr/>
        </p:nvSpPr>
        <p:spPr>
          <a:xfrm>
            <a:off x="1003300" y="2997200"/>
            <a:ext cx="8140700" cy="6019800"/>
          </a:xfrm>
          <a:prstGeom prst="rect">
            <a:avLst/>
          </a:prstGeom>
          <a:solidFill>
            <a:srgbClr val="F8F1E4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7" name="Shape 5"/>
          <p:cNvSpPr/>
          <p:nvPr/>
        </p:nvSpPr>
        <p:spPr>
          <a:xfrm>
            <a:off x="1555750" y="3530600"/>
            <a:ext cx="742950" cy="742950"/>
          </a:xfrm>
          <a:prstGeom prst="roundRect">
            <a:avLst>
              <a:gd name="adj" fmla="val 23077"/>
            </a:avLst>
          </a:prstGeom>
          <a:solidFill>
            <a:srgbClr val="BA7517"/>
          </a:solidFill>
          <a:ln/>
        </p:spPr>
        <p:txBody>
          <a:bodyPr/>
          <a:lstStyle/>
          <a:p>
            <a:endParaRPr lang="th-TH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6725" y="3711575"/>
            <a:ext cx="381000" cy="381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5750" y="4540250"/>
            <a:ext cx="724687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kern="0" spc="-25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SAWASDEE by AOT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1555750" y="5054600"/>
            <a:ext cx="7246874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9A6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travelers open at the airport</a:t>
            </a:r>
            <a:endParaRPr lang="en-US" sz="1950" dirty="0"/>
          </a:p>
        </p:txBody>
      </p:sp>
      <p:sp>
        <p:nvSpPr>
          <p:cNvPr id="11" name="Shape 8"/>
          <p:cNvSpPr/>
          <p:nvPr/>
        </p:nvSpPr>
        <p:spPr>
          <a:xfrm>
            <a:off x="1555750" y="6388100"/>
            <a:ext cx="381000" cy="381000"/>
          </a:xfrm>
          <a:prstGeom prst="roundRect">
            <a:avLst>
              <a:gd name="adj" fmla="val 27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th-TH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1475" y="6473825"/>
            <a:ext cx="209550" cy="2095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08200" y="6419850"/>
            <a:ext cx="192405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tracking</a:t>
            </a:r>
            <a:endParaRPr lang="en-US" sz="2100" dirty="0"/>
          </a:p>
        </p:txBody>
      </p:sp>
      <p:sp>
        <p:nvSpPr>
          <p:cNvPr id="14" name="Shape 10"/>
          <p:cNvSpPr/>
          <p:nvPr/>
        </p:nvSpPr>
        <p:spPr>
          <a:xfrm>
            <a:off x="1555750" y="6959600"/>
            <a:ext cx="381000" cy="381000"/>
          </a:xfrm>
          <a:prstGeom prst="roundRect">
            <a:avLst>
              <a:gd name="adj" fmla="val 27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th-TH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1475" y="7045325"/>
            <a:ext cx="209550" cy="2095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108200" y="6991350"/>
            <a:ext cx="17272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maps</a:t>
            </a:r>
            <a:endParaRPr lang="en-US" sz="2100" dirty="0"/>
          </a:p>
        </p:txBody>
      </p:sp>
      <p:sp>
        <p:nvSpPr>
          <p:cNvPr id="17" name="Shape 12"/>
          <p:cNvSpPr/>
          <p:nvPr/>
        </p:nvSpPr>
        <p:spPr>
          <a:xfrm>
            <a:off x="1555750" y="7531100"/>
            <a:ext cx="381000" cy="381000"/>
          </a:xfrm>
          <a:prstGeom prst="roundRect">
            <a:avLst>
              <a:gd name="adj" fmla="val 27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th-TH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1475" y="7616825"/>
            <a:ext cx="209550" cy="2095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108200" y="7562850"/>
            <a:ext cx="172085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Taxi booking</a:t>
            </a:r>
            <a:endParaRPr lang="en-US" sz="2100" dirty="0"/>
          </a:p>
        </p:txBody>
      </p:sp>
      <p:sp>
        <p:nvSpPr>
          <p:cNvPr id="20" name="Shape 14"/>
          <p:cNvSpPr/>
          <p:nvPr/>
        </p:nvSpPr>
        <p:spPr>
          <a:xfrm>
            <a:off x="1555750" y="8102600"/>
            <a:ext cx="381000" cy="381000"/>
          </a:xfrm>
          <a:prstGeom prst="roundRect">
            <a:avLst>
              <a:gd name="adj" fmla="val 27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th-TH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1475" y="8188325"/>
            <a:ext cx="209550" cy="2095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2108200" y="8134350"/>
            <a:ext cx="18923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 points</a:t>
            </a:r>
            <a:endParaRPr lang="en-US" sz="2100" dirty="0"/>
          </a:p>
        </p:txBody>
      </p:sp>
      <p:sp>
        <p:nvSpPr>
          <p:cNvPr id="23" name="Shape 16"/>
          <p:cNvSpPr/>
          <p:nvPr/>
        </p:nvSpPr>
        <p:spPr>
          <a:xfrm>
            <a:off x="9144000" y="2997200"/>
            <a:ext cx="8140700" cy="6019800"/>
          </a:xfrm>
          <a:prstGeom prst="rect">
            <a:avLst/>
          </a:prstGeom>
          <a:solidFill>
            <a:srgbClr val="022E49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4" name="Shape 17"/>
          <p:cNvSpPr/>
          <p:nvPr/>
        </p:nvSpPr>
        <p:spPr>
          <a:xfrm>
            <a:off x="9696450" y="3530600"/>
            <a:ext cx="742950" cy="742950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th-TH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7425" y="3711575"/>
            <a:ext cx="381000" cy="3810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696450" y="4540250"/>
            <a:ext cx="724687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kern="0" spc="-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 CI360</a:t>
            </a:r>
            <a:endParaRPr lang="en-US" sz="2550" dirty="0"/>
          </a:p>
        </p:txBody>
      </p:sp>
      <p:sp>
        <p:nvSpPr>
          <p:cNvPr id="27" name="Text 19"/>
          <p:cNvSpPr/>
          <p:nvPr/>
        </p:nvSpPr>
        <p:spPr>
          <a:xfrm>
            <a:off x="9696450" y="5054600"/>
            <a:ext cx="7246874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9FC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invisible engine inside the company</a:t>
            </a:r>
            <a:endParaRPr lang="en-US" sz="1950" dirty="0"/>
          </a:p>
        </p:txBody>
      </p:sp>
      <p:sp>
        <p:nvSpPr>
          <p:cNvPr id="28" name="Shape 20"/>
          <p:cNvSpPr/>
          <p:nvPr/>
        </p:nvSpPr>
        <p:spPr>
          <a:xfrm>
            <a:off x="9696450" y="6388100"/>
            <a:ext cx="381000" cy="381000"/>
          </a:xfrm>
          <a:prstGeom prst="roundRect">
            <a:avLst>
              <a:gd name="adj" fmla="val 27500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th-TH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82175" y="6473825"/>
            <a:ext cx="209550" cy="20955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0248900" y="6419850"/>
            <a:ext cx="193675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A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data</a:t>
            </a:r>
            <a:endParaRPr lang="en-US" sz="2100" dirty="0"/>
          </a:p>
        </p:txBody>
      </p:sp>
      <p:sp>
        <p:nvSpPr>
          <p:cNvPr id="31" name="Shape 22"/>
          <p:cNvSpPr/>
          <p:nvPr/>
        </p:nvSpPr>
        <p:spPr>
          <a:xfrm>
            <a:off x="9696450" y="6959600"/>
            <a:ext cx="381000" cy="381000"/>
          </a:xfrm>
          <a:prstGeom prst="roundRect">
            <a:avLst>
              <a:gd name="adj" fmla="val 27500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th-TH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82175" y="7045325"/>
            <a:ext cx="209550" cy="20955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10248900" y="6991350"/>
            <a:ext cx="1644651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A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decisions</a:t>
            </a:r>
            <a:endParaRPr lang="en-US" sz="2100" dirty="0"/>
          </a:p>
        </p:txBody>
      </p:sp>
      <p:sp>
        <p:nvSpPr>
          <p:cNvPr id="34" name="Shape 24"/>
          <p:cNvSpPr/>
          <p:nvPr/>
        </p:nvSpPr>
        <p:spPr>
          <a:xfrm>
            <a:off x="9696450" y="7531100"/>
            <a:ext cx="381000" cy="381000"/>
          </a:xfrm>
          <a:prstGeom prst="roundRect">
            <a:avLst>
              <a:gd name="adj" fmla="val 27500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th-TH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82175" y="7616825"/>
            <a:ext cx="209550" cy="20955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10248900" y="7562850"/>
            <a:ext cx="253365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A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offers</a:t>
            </a:r>
            <a:endParaRPr lang="en-US" sz="2100" dirty="0"/>
          </a:p>
        </p:txBody>
      </p:sp>
      <p:sp>
        <p:nvSpPr>
          <p:cNvPr id="37" name="Shape 26"/>
          <p:cNvSpPr/>
          <p:nvPr/>
        </p:nvSpPr>
        <p:spPr>
          <a:xfrm>
            <a:off x="9696450" y="8102600"/>
            <a:ext cx="381000" cy="381000"/>
          </a:xfrm>
          <a:prstGeom prst="roundRect">
            <a:avLst>
              <a:gd name="adj" fmla="val 27500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th-TH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82175" y="8188325"/>
            <a:ext cx="209550" cy="20955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10248900" y="8134350"/>
            <a:ext cx="215265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A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</a:t>
            </a:r>
            <a:endParaRPr lang="en-US" sz="2100" dirty="0"/>
          </a:p>
        </p:txBody>
      </p:sp>
      <p:sp>
        <p:nvSpPr>
          <p:cNvPr id="41" name="Shape 28"/>
          <p:cNvSpPr/>
          <p:nvPr/>
        </p:nvSpPr>
        <p:spPr>
          <a:xfrm>
            <a:off x="1847850" y="9544050"/>
            <a:ext cx="14288" cy="247650"/>
          </a:xfrm>
          <a:prstGeom prst="rect">
            <a:avLst/>
          </a:prstGeom>
          <a:solidFill>
            <a:srgbClr val="E2E7EB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3" name="Text 30"/>
          <p:cNvSpPr/>
          <p:nvPr/>
        </p:nvSpPr>
        <p:spPr>
          <a:xfrm>
            <a:off x="16470809" y="9528175"/>
            <a:ext cx="902791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8C9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08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925513"/>
            <a:ext cx="495300" cy="28575"/>
          </a:xfrm>
          <a:prstGeom prst="roundRect">
            <a:avLst>
              <a:gd name="adj" fmla="val 50000"/>
            </a:avLst>
          </a:prstGeom>
          <a:solidFill>
            <a:srgbClr val="BA7517">
              <a:alpha val="85000"/>
            </a:srgbClr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" name="Text 1"/>
          <p:cNvSpPr/>
          <p:nvPr/>
        </p:nvSpPr>
        <p:spPr>
          <a:xfrm>
            <a:off x="1638300" y="800100"/>
            <a:ext cx="4209527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70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TODAY, WITHOUT AN ENGINE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0600" y="1365250"/>
            <a:ext cx="1530477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today without an intelligence engine?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90600" y="2984500"/>
            <a:ext cx="5257800" cy="6045200"/>
          </a:xfrm>
          <a:prstGeom prst="roundRect">
            <a:avLst>
              <a:gd name="adj" fmla="val 3986"/>
            </a:avLst>
          </a:prstGeom>
          <a:solidFill>
            <a:srgbClr val="F8F1E4"/>
          </a:solidFill>
          <a:ln w="12700">
            <a:solidFill>
              <a:srgbClr val="E8D4AE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 4"/>
          <p:cNvSpPr/>
          <p:nvPr/>
        </p:nvSpPr>
        <p:spPr>
          <a:xfrm>
            <a:off x="1384300" y="3435350"/>
            <a:ext cx="685800" cy="685800"/>
          </a:xfrm>
          <a:prstGeom prst="roundRect">
            <a:avLst>
              <a:gd name="adj" fmla="val 22222"/>
            </a:avLst>
          </a:prstGeom>
          <a:solidFill>
            <a:srgbClr val="BA7517"/>
          </a:solidFill>
          <a:ln/>
        </p:spPr>
        <p:txBody>
          <a:bodyPr/>
          <a:lstStyle/>
          <a:p>
            <a:endParaRPr lang="th-TH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6225" y="3597275"/>
            <a:ext cx="361950" cy="3619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50781" y="3575050"/>
            <a:ext cx="480120" cy="44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90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384300" y="4425950"/>
            <a:ext cx="4604512" cy="1169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b="1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passenger gets the same message — even though each one is different.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6515100" y="2984500"/>
            <a:ext cx="5257800" cy="6045200"/>
          </a:xfrm>
          <a:prstGeom prst="roundRect">
            <a:avLst>
              <a:gd name="adj" fmla="val 3986"/>
            </a:avLst>
          </a:prstGeom>
          <a:solidFill>
            <a:srgbClr val="F8F1E4"/>
          </a:solidFill>
          <a:ln w="12700">
            <a:solidFill>
              <a:srgbClr val="E8D4AE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1" name="Shape 8"/>
          <p:cNvSpPr/>
          <p:nvPr/>
        </p:nvSpPr>
        <p:spPr>
          <a:xfrm>
            <a:off x="6908800" y="3435350"/>
            <a:ext cx="685800" cy="685800"/>
          </a:xfrm>
          <a:prstGeom prst="roundRect">
            <a:avLst>
              <a:gd name="adj" fmla="val 22222"/>
            </a:avLst>
          </a:prstGeom>
          <a:solidFill>
            <a:srgbClr val="BA7517"/>
          </a:solidFill>
          <a:ln/>
        </p:spPr>
        <p:txBody>
          <a:bodyPr/>
          <a:lstStyle/>
          <a:p>
            <a:endParaRPr lang="th-TH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0725" y="3597275"/>
            <a:ext cx="361950" cy="3619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975281" y="3575050"/>
            <a:ext cx="480120" cy="44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90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50" dirty="0"/>
          </a:p>
        </p:txBody>
      </p:sp>
      <p:sp>
        <p:nvSpPr>
          <p:cNvPr id="14" name="Text 10"/>
          <p:cNvSpPr/>
          <p:nvPr/>
        </p:nvSpPr>
        <p:spPr>
          <a:xfrm>
            <a:off x="6908800" y="4425950"/>
            <a:ext cx="4604512" cy="1169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b="1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AOT cannot predict which traveler is about to stop engaging.</a:t>
            </a:r>
            <a:endParaRPr lang="en-US" sz="2250" dirty="0"/>
          </a:p>
        </p:txBody>
      </p:sp>
      <p:sp>
        <p:nvSpPr>
          <p:cNvPr id="15" name="Shape 11"/>
          <p:cNvSpPr/>
          <p:nvPr/>
        </p:nvSpPr>
        <p:spPr>
          <a:xfrm>
            <a:off x="12039600" y="2984500"/>
            <a:ext cx="5257800" cy="6045200"/>
          </a:xfrm>
          <a:prstGeom prst="roundRect">
            <a:avLst>
              <a:gd name="adj" fmla="val 3986"/>
            </a:avLst>
          </a:prstGeom>
          <a:solidFill>
            <a:srgbClr val="F8F1E4"/>
          </a:solidFill>
          <a:ln w="12700">
            <a:solidFill>
              <a:srgbClr val="E8D4AE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6" name="Shape 12"/>
          <p:cNvSpPr/>
          <p:nvPr/>
        </p:nvSpPr>
        <p:spPr>
          <a:xfrm>
            <a:off x="12433300" y="3435350"/>
            <a:ext cx="685800" cy="685800"/>
          </a:xfrm>
          <a:prstGeom prst="roundRect">
            <a:avLst>
              <a:gd name="adj" fmla="val 22222"/>
            </a:avLst>
          </a:prstGeom>
          <a:solidFill>
            <a:srgbClr val="BA7517"/>
          </a:solidFill>
          <a:ln/>
        </p:spPr>
        <p:txBody>
          <a:bodyPr/>
          <a:lstStyle/>
          <a:p>
            <a:endParaRPr lang="th-TH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95225" y="3597275"/>
            <a:ext cx="361950" cy="3619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99781" y="3575050"/>
            <a:ext cx="480120" cy="44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90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50" dirty="0"/>
          </a:p>
        </p:txBody>
      </p:sp>
      <p:sp>
        <p:nvSpPr>
          <p:cNvPr id="19" name="Text 14"/>
          <p:cNvSpPr/>
          <p:nvPr/>
        </p:nvSpPr>
        <p:spPr>
          <a:xfrm>
            <a:off x="12433300" y="4425950"/>
            <a:ext cx="4604512" cy="1169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b="1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is missed because the right offer never reaches the right person at the right time.</a:t>
            </a:r>
            <a:endParaRPr lang="en-US" sz="2250" dirty="0"/>
          </a:p>
        </p:txBody>
      </p:sp>
      <p:sp>
        <p:nvSpPr>
          <p:cNvPr id="21" name="Shape 15"/>
          <p:cNvSpPr/>
          <p:nvPr/>
        </p:nvSpPr>
        <p:spPr>
          <a:xfrm>
            <a:off x="1847850" y="9544050"/>
            <a:ext cx="14288" cy="247650"/>
          </a:xfrm>
          <a:prstGeom prst="rect">
            <a:avLst/>
          </a:prstGeom>
          <a:solidFill>
            <a:srgbClr val="E2E7EB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2" name="Text 16"/>
          <p:cNvSpPr/>
          <p:nvPr/>
        </p:nvSpPr>
        <p:spPr>
          <a:xfrm>
            <a:off x="2033588" y="9528175"/>
            <a:ext cx="22923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16470809" y="9528175"/>
            <a:ext cx="902791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8C9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08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925513"/>
            <a:ext cx="495300" cy="28575"/>
          </a:xfrm>
          <a:prstGeom prst="roundRect">
            <a:avLst>
              <a:gd name="adj" fmla="val 50000"/>
            </a:avLst>
          </a:prstGeom>
          <a:solidFill>
            <a:srgbClr val="022E49">
              <a:alpha val="85000"/>
            </a:srgbClr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" name="Text 1"/>
          <p:cNvSpPr/>
          <p:nvPr/>
        </p:nvSpPr>
        <p:spPr>
          <a:xfrm>
            <a:off x="1638300" y="800100"/>
            <a:ext cx="2620186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b="1" kern="0" spc="270" dirty="0">
                <a:solidFill>
                  <a:srgbClr val="022E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COMPARISON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90600" y="1365250"/>
            <a:ext cx="1530477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by side — what each one does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3924300" y="2289175"/>
            <a:ext cx="6754019" cy="1025525"/>
          </a:xfrm>
          <a:prstGeom prst="roundRect">
            <a:avLst>
              <a:gd name="adj" fmla="val 13003"/>
            </a:avLst>
          </a:prstGeom>
          <a:solidFill>
            <a:srgbClr val="BA7517"/>
          </a:solidFill>
          <a:ln/>
        </p:spPr>
        <p:txBody>
          <a:bodyPr/>
          <a:lstStyle/>
          <a:p>
            <a:endParaRPr lang="th-TH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0050" y="2524125"/>
            <a:ext cx="247650" cy="2476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91050" y="2460625"/>
            <a:ext cx="287128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SAWASDEE by AOT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4210050" y="2863850"/>
            <a:ext cx="636799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traveler app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0678319" y="2289175"/>
            <a:ext cx="6619081" cy="1025525"/>
          </a:xfrm>
          <a:prstGeom prst="roundRect">
            <a:avLst>
              <a:gd name="adj" fmla="val 13003"/>
            </a:avLst>
          </a:prstGeom>
          <a:solidFill>
            <a:srgbClr val="022E49"/>
          </a:solidFill>
          <a:ln/>
        </p:spPr>
        <p:txBody>
          <a:bodyPr/>
          <a:lstStyle/>
          <a:p>
            <a:endParaRPr lang="th-TH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4069" y="2524125"/>
            <a:ext cx="247650" cy="2476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45069" y="2460625"/>
            <a:ext cx="16002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 CI360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10964069" y="2863850"/>
            <a:ext cx="622900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intelligence engine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028700" y="3314700"/>
            <a:ext cx="2735961" cy="617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875" dirty="0"/>
          </a:p>
        </p:txBody>
      </p:sp>
      <p:sp>
        <p:nvSpPr>
          <p:cNvPr id="14" name="Shape 10"/>
          <p:cNvSpPr/>
          <p:nvPr/>
        </p:nvSpPr>
        <p:spPr>
          <a:xfrm>
            <a:off x="3924300" y="3314700"/>
            <a:ext cx="6754019" cy="579438"/>
          </a:xfrm>
          <a:prstGeom prst="rect">
            <a:avLst/>
          </a:prstGeom>
          <a:solidFill>
            <a:srgbClr val="F8F1E4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5" name="Shape 11"/>
          <p:cNvSpPr/>
          <p:nvPr/>
        </p:nvSpPr>
        <p:spPr>
          <a:xfrm>
            <a:off x="3924300" y="3881438"/>
            <a:ext cx="6754019" cy="12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6" name="Text 12"/>
          <p:cNvSpPr/>
          <p:nvPr/>
        </p:nvSpPr>
        <p:spPr>
          <a:xfrm>
            <a:off x="4210050" y="3448050"/>
            <a:ext cx="638514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875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travelers move through the airport</a:t>
            </a:r>
            <a:endParaRPr lang="en-US" sz="1875" dirty="0"/>
          </a:p>
        </p:txBody>
      </p:sp>
      <p:sp>
        <p:nvSpPr>
          <p:cNvPr id="17" name="Shape 13"/>
          <p:cNvSpPr/>
          <p:nvPr/>
        </p:nvSpPr>
        <p:spPr>
          <a:xfrm>
            <a:off x="10678319" y="3314700"/>
            <a:ext cx="6619081" cy="579438"/>
          </a:xfrm>
          <a:prstGeom prst="rect">
            <a:avLst/>
          </a:prstGeom>
          <a:solidFill>
            <a:srgbClr val="E7F0F8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8" name="Shape 14"/>
          <p:cNvSpPr/>
          <p:nvPr/>
        </p:nvSpPr>
        <p:spPr>
          <a:xfrm>
            <a:off x="10678319" y="3881438"/>
            <a:ext cx="6619081" cy="12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9" name="Text 15"/>
          <p:cNvSpPr/>
          <p:nvPr/>
        </p:nvSpPr>
        <p:spPr>
          <a:xfrm>
            <a:off x="10964069" y="3448050"/>
            <a:ext cx="624615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875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what to offer each customer</a:t>
            </a:r>
            <a:endParaRPr lang="en-US" sz="1875" dirty="0"/>
          </a:p>
        </p:txBody>
      </p:sp>
      <p:sp>
        <p:nvSpPr>
          <p:cNvPr id="20" name="Text 16"/>
          <p:cNvSpPr/>
          <p:nvPr/>
        </p:nvSpPr>
        <p:spPr>
          <a:xfrm>
            <a:off x="1028700" y="3894138"/>
            <a:ext cx="2735961" cy="617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uses it</a:t>
            </a:r>
            <a:endParaRPr lang="en-US" sz="1875" dirty="0"/>
          </a:p>
        </p:txBody>
      </p:sp>
      <p:sp>
        <p:nvSpPr>
          <p:cNvPr id="21" name="Shape 17"/>
          <p:cNvSpPr/>
          <p:nvPr/>
        </p:nvSpPr>
        <p:spPr>
          <a:xfrm>
            <a:off x="3924300" y="3894138"/>
            <a:ext cx="6754019" cy="579438"/>
          </a:xfrm>
          <a:prstGeom prst="rect">
            <a:avLst/>
          </a:prstGeom>
          <a:solidFill>
            <a:srgbClr val="F8F1E4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2" name="Shape 18"/>
          <p:cNvSpPr/>
          <p:nvPr/>
        </p:nvSpPr>
        <p:spPr>
          <a:xfrm>
            <a:off x="3924300" y="4460875"/>
            <a:ext cx="6754019" cy="12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3" name="Text 19"/>
          <p:cNvSpPr/>
          <p:nvPr/>
        </p:nvSpPr>
        <p:spPr>
          <a:xfrm>
            <a:off x="4210050" y="4027488"/>
            <a:ext cx="638514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875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Passengers</a:t>
            </a:r>
            <a:endParaRPr lang="en-US" sz="1875" dirty="0"/>
          </a:p>
        </p:txBody>
      </p:sp>
      <p:sp>
        <p:nvSpPr>
          <p:cNvPr id="24" name="Shape 20"/>
          <p:cNvSpPr/>
          <p:nvPr/>
        </p:nvSpPr>
        <p:spPr>
          <a:xfrm>
            <a:off x="10678319" y="3894138"/>
            <a:ext cx="6619081" cy="579438"/>
          </a:xfrm>
          <a:prstGeom prst="rect">
            <a:avLst/>
          </a:prstGeom>
          <a:solidFill>
            <a:srgbClr val="E7F0F8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5" name="Shape 21"/>
          <p:cNvSpPr/>
          <p:nvPr/>
        </p:nvSpPr>
        <p:spPr>
          <a:xfrm>
            <a:off x="10678319" y="4460875"/>
            <a:ext cx="6619081" cy="12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6" name="Text 22"/>
          <p:cNvSpPr/>
          <p:nvPr/>
        </p:nvSpPr>
        <p:spPr>
          <a:xfrm>
            <a:off x="10964069" y="4027488"/>
            <a:ext cx="624615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875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&amp; commercial teams</a:t>
            </a:r>
            <a:endParaRPr lang="en-US" sz="1875" dirty="0"/>
          </a:p>
        </p:txBody>
      </p:sp>
      <p:sp>
        <p:nvSpPr>
          <p:cNvPr id="27" name="Text 23"/>
          <p:cNvSpPr/>
          <p:nvPr/>
        </p:nvSpPr>
        <p:spPr>
          <a:xfrm>
            <a:off x="1028700" y="4473575"/>
            <a:ext cx="2735961" cy="617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to customer?</a:t>
            </a:r>
            <a:endParaRPr lang="en-US" sz="1875" dirty="0"/>
          </a:p>
        </p:txBody>
      </p:sp>
      <p:sp>
        <p:nvSpPr>
          <p:cNvPr id="28" name="Shape 24"/>
          <p:cNvSpPr/>
          <p:nvPr/>
        </p:nvSpPr>
        <p:spPr>
          <a:xfrm>
            <a:off x="3924300" y="4473575"/>
            <a:ext cx="6754019" cy="579438"/>
          </a:xfrm>
          <a:prstGeom prst="rect">
            <a:avLst/>
          </a:prstGeom>
          <a:solidFill>
            <a:srgbClr val="F8F1E4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9" name="Shape 25"/>
          <p:cNvSpPr/>
          <p:nvPr/>
        </p:nvSpPr>
        <p:spPr>
          <a:xfrm>
            <a:off x="3924300" y="5040313"/>
            <a:ext cx="6754019" cy="12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0" name="Text 26"/>
          <p:cNvSpPr/>
          <p:nvPr/>
        </p:nvSpPr>
        <p:spPr>
          <a:xfrm>
            <a:off x="4210050" y="4606925"/>
            <a:ext cx="638514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875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— they open it</a:t>
            </a:r>
            <a:endParaRPr lang="en-US" sz="1875" dirty="0"/>
          </a:p>
        </p:txBody>
      </p:sp>
      <p:sp>
        <p:nvSpPr>
          <p:cNvPr id="31" name="Shape 27"/>
          <p:cNvSpPr/>
          <p:nvPr/>
        </p:nvSpPr>
        <p:spPr>
          <a:xfrm>
            <a:off x="10678319" y="4473575"/>
            <a:ext cx="6619081" cy="579438"/>
          </a:xfrm>
          <a:prstGeom prst="rect">
            <a:avLst/>
          </a:prstGeom>
          <a:solidFill>
            <a:srgbClr val="E7F0F8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2" name="Shape 28"/>
          <p:cNvSpPr/>
          <p:nvPr/>
        </p:nvSpPr>
        <p:spPr>
          <a:xfrm>
            <a:off x="10678319" y="5040313"/>
            <a:ext cx="6619081" cy="12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3" name="Text 29"/>
          <p:cNvSpPr/>
          <p:nvPr/>
        </p:nvSpPr>
        <p:spPr>
          <a:xfrm>
            <a:off x="10964069" y="4606925"/>
            <a:ext cx="624615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875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— it works behind the scenes</a:t>
            </a:r>
            <a:endParaRPr lang="en-US" sz="1875" dirty="0"/>
          </a:p>
        </p:txBody>
      </p:sp>
      <p:sp>
        <p:nvSpPr>
          <p:cNvPr id="34" name="Text 30"/>
          <p:cNvSpPr/>
          <p:nvPr/>
        </p:nvSpPr>
        <p:spPr>
          <a:xfrm>
            <a:off x="1028700" y="5053013"/>
            <a:ext cx="2735961" cy="617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875" dirty="0"/>
          </a:p>
        </p:txBody>
      </p:sp>
      <p:sp>
        <p:nvSpPr>
          <p:cNvPr id="35" name="Shape 31"/>
          <p:cNvSpPr/>
          <p:nvPr/>
        </p:nvSpPr>
        <p:spPr>
          <a:xfrm>
            <a:off x="3924300" y="5053013"/>
            <a:ext cx="6754019" cy="579438"/>
          </a:xfrm>
          <a:prstGeom prst="rect">
            <a:avLst/>
          </a:prstGeom>
          <a:solidFill>
            <a:srgbClr val="F8F1E4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6" name="Shape 32"/>
          <p:cNvSpPr/>
          <p:nvPr/>
        </p:nvSpPr>
        <p:spPr>
          <a:xfrm>
            <a:off x="3924300" y="5619750"/>
            <a:ext cx="6754019" cy="12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7" name="Text 33"/>
          <p:cNvSpPr/>
          <p:nvPr/>
        </p:nvSpPr>
        <p:spPr>
          <a:xfrm>
            <a:off x="4210050" y="5186363"/>
            <a:ext cx="638514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875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Flights, maps, taxi, loyalty</a:t>
            </a:r>
            <a:endParaRPr lang="en-US" sz="1875" dirty="0"/>
          </a:p>
        </p:txBody>
      </p:sp>
      <p:sp>
        <p:nvSpPr>
          <p:cNvPr id="38" name="Shape 34"/>
          <p:cNvSpPr/>
          <p:nvPr/>
        </p:nvSpPr>
        <p:spPr>
          <a:xfrm>
            <a:off x="10678319" y="5053013"/>
            <a:ext cx="6619081" cy="579438"/>
          </a:xfrm>
          <a:prstGeom prst="rect">
            <a:avLst/>
          </a:prstGeom>
          <a:solidFill>
            <a:srgbClr val="E7F0F8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9" name="Shape 35"/>
          <p:cNvSpPr/>
          <p:nvPr/>
        </p:nvSpPr>
        <p:spPr>
          <a:xfrm>
            <a:off x="10678319" y="5619750"/>
            <a:ext cx="6619081" cy="12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0" name="Text 36"/>
          <p:cNvSpPr/>
          <p:nvPr/>
        </p:nvSpPr>
        <p:spPr>
          <a:xfrm>
            <a:off x="10964069" y="5186363"/>
            <a:ext cx="624615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875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Data, AI decisions, personalized offers</a:t>
            </a:r>
            <a:endParaRPr lang="en-US" sz="1875" dirty="0"/>
          </a:p>
        </p:txBody>
      </p:sp>
      <p:sp>
        <p:nvSpPr>
          <p:cNvPr id="41" name="Text 37"/>
          <p:cNvSpPr/>
          <p:nvPr/>
        </p:nvSpPr>
        <p:spPr>
          <a:xfrm>
            <a:off x="1028700" y="5632450"/>
            <a:ext cx="2735961" cy="617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it handles</a:t>
            </a:r>
            <a:endParaRPr lang="en-US" sz="1875" dirty="0"/>
          </a:p>
        </p:txBody>
      </p:sp>
      <p:sp>
        <p:nvSpPr>
          <p:cNvPr id="42" name="Shape 38"/>
          <p:cNvSpPr/>
          <p:nvPr/>
        </p:nvSpPr>
        <p:spPr>
          <a:xfrm>
            <a:off x="3924300" y="5632450"/>
            <a:ext cx="6754019" cy="579438"/>
          </a:xfrm>
          <a:prstGeom prst="rect">
            <a:avLst/>
          </a:prstGeom>
          <a:solidFill>
            <a:srgbClr val="F8F1E4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3" name="Shape 39"/>
          <p:cNvSpPr/>
          <p:nvPr/>
        </p:nvSpPr>
        <p:spPr>
          <a:xfrm>
            <a:off x="3924300" y="6199188"/>
            <a:ext cx="6754019" cy="12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4" name="Text 40"/>
          <p:cNvSpPr/>
          <p:nvPr/>
        </p:nvSpPr>
        <p:spPr>
          <a:xfrm>
            <a:off x="4210050" y="5765800"/>
            <a:ext cx="638514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875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traveler taps and books</a:t>
            </a:r>
            <a:endParaRPr lang="en-US" sz="1875" dirty="0"/>
          </a:p>
        </p:txBody>
      </p:sp>
      <p:sp>
        <p:nvSpPr>
          <p:cNvPr id="45" name="Shape 41"/>
          <p:cNvSpPr/>
          <p:nvPr/>
        </p:nvSpPr>
        <p:spPr>
          <a:xfrm>
            <a:off x="10678319" y="5632450"/>
            <a:ext cx="6619081" cy="579438"/>
          </a:xfrm>
          <a:prstGeom prst="rect">
            <a:avLst/>
          </a:prstGeom>
          <a:solidFill>
            <a:srgbClr val="E7F0F8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6" name="Shape 42"/>
          <p:cNvSpPr/>
          <p:nvPr/>
        </p:nvSpPr>
        <p:spPr>
          <a:xfrm>
            <a:off x="10678319" y="6199188"/>
            <a:ext cx="6619081" cy="12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7" name="Text 43"/>
          <p:cNvSpPr/>
          <p:nvPr/>
        </p:nvSpPr>
        <p:spPr>
          <a:xfrm>
            <a:off x="10964069" y="5765800"/>
            <a:ext cx="624615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875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signal, from every channel</a:t>
            </a:r>
            <a:endParaRPr lang="en-US" sz="1875" dirty="0"/>
          </a:p>
        </p:txBody>
      </p:sp>
      <p:sp>
        <p:nvSpPr>
          <p:cNvPr id="48" name="Text 44"/>
          <p:cNvSpPr/>
          <p:nvPr/>
        </p:nvSpPr>
        <p:spPr>
          <a:xfrm>
            <a:off x="1028700" y="6211888"/>
            <a:ext cx="2735961" cy="617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outcome</a:t>
            </a:r>
            <a:endParaRPr lang="en-US" sz="1875" dirty="0"/>
          </a:p>
        </p:txBody>
      </p:sp>
      <p:sp>
        <p:nvSpPr>
          <p:cNvPr id="49" name="Shape 45"/>
          <p:cNvSpPr/>
          <p:nvPr/>
        </p:nvSpPr>
        <p:spPr>
          <a:xfrm>
            <a:off x="3924300" y="6211888"/>
            <a:ext cx="6754019" cy="579438"/>
          </a:xfrm>
          <a:prstGeom prst="rect">
            <a:avLst/>
          </a:prstGeom>
          <a:solidFill>
            <a:srgbClr val="F8F1E4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50" name="Shape 46"/>
          <p:cNvSpPr/>
          <p:nvPr/>
        </p:nvSpPr>
        <p:spPr>
          <a:xfrm>
            <a:off x="3924300" y="6778625"/>
            <a:ext cx="6754019" cy="12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51" name="Text 47"/>
          <p:cNvSpPr/>
          <p:nvPr/>
        </p:nvSpPr>
        <p:spPr>
          <a:xfrm>
            <a:off x="4210050" y="6345238"/>
            <a:ext cx="638514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875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smoother airport journey</a:t>
            </a:r>
            <a:endParaRPr lang="en-US" sz="1875" dirty="0"/>
          </a:p>
        </p:txBody>
      </p:sp>
      <p:sp>
        <p:nvSpPr>
          <p:cNvPr id="52" name="Shape 48"/>
          <p:cNvSpPr/>
          <p:nvPr/>
        </p:nvSpPr>
        <p:spPr>
          <a:xfrm>
            <a:off x="10678319" y="6211888"/>
            <a:ext cx="6619081" cy="579438"/>
          </a:xfrm>
          <a:prstGeom prst="rect">
            <a:avLst/>
          </a:prstGeom>
          <a:solidFill>
            <a:srgbClr val="E7F0F8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53" name="Shape 49"/>
          <p:cNvSpPr/>
          <p:nvPr/>
        </p:nvSpPr>
        <p:spPr>
          <a:xfrm>
            <a:off x="10678319" y="6778625"/>
            <a:ext cx="6619081" cy="12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54" name="Text 50"/>
          <p:cNvSpPr/>
          <p:nvPr/>
        </p:nvSpPr>
        <p:spPr>
          <a:xfrm>
            <a:off x="10964069" y="6345238"/>
            <a:ext cx="624615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875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revenue and stronger loyalty</a:t>
            </a:r>
            <a:endParaRPr lang="en-US" sz="1875" dirty="0"/>
          </a:p>
        </p:txBody>
      </p:sp>
      <p:sp>
        <p:nvSpPr>
          <p:cNvPr id="55" name="Text 51"/>
          <p:cNvSpPr/>
          <p:nvPr/>
        </p:nvSpPr>
        <p:spPr>
          <a:xfrm>
            <a:off x="1028700" y="6791325"/>
            <a:ext cx="2735961" cy="617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reach</a:t>
            </a:r>
            <a:endParaRPr lang="en-US" sz="1875" dirty="0"/>
          </a:p>
        </p:txBody>
      </p:sp>
      <p:sp>
        <p:nvSpPr>
          <p:cNvPr id="56" name="Shape 52"/>
          <p:cNvSpPr/>
          <p:nvPr/>
        </p:nvSpPr>
        <p:spPr>
          <a:xfrm>
            <a:off x="3924300" y="6791325"/>
            <a:ext cx="6754019" cy="579438"/>
          </a:xfrm>
          <a:prstGeom prst="rect">
            <a:avLst/>
          </a:prstGeom>
          <a:solidFill>
            <a:srgbClr val="F8F1E4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57" name="Shape 53"/>
          <p:cNvSpPr/>
          <p:nvPr/>
        </p:nvSpPr>
        <p:spPr>
          <a:xfrm>
            <a:off x="3924300" y="7358063"/>
            <a:ext cx="6754019" cy="12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58" name="Text 54"/>
          <p:cNvSpPr/>
          <p:nvPr/>
        </p:nvSpPr>
        <p:spPr>
          <a:xfrm>
            <a:off x="4210050" y="6924675"/>
            <a:ext cx="638514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875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AOT airports in Thailand</a:t>
            </a:r>
            <a:endParaRPr lang="en-US" sz="1875" dirty="0"/>
          </a:p>
        </p:txBody>
      </p:sp>
      <p:sp>
        <p:nvSpPr>
          <p:cNvPr id="59" name="Shape 55"/>
          <p:cNvSpPr/>
          <p:nvPr/>
        </p:nvSpPr>
        <p:spPr>
          <a:xfrm>
            <a:off x="10678319" y="6791325"/>
            <a:ext cx="6619081" cy="579438"/>
          </a:xfrm>
          <a:prstGeom prst="rect">
            <a:avLst/>
          </a:prstGeom>
          <a:solidFill>
            <a:srgbClr val="E7F0F8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60" name="Shape 56"/>
          <p:cNvSpPr/>
          <p:nvPr/>
        </p:nvSpPr>
        <p:spPr>
          <a:xfrm>
            <a:off x="10678319" y="7358063"/>
            <a:ext cx="6619081" cy="12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61" name="Text 57"/>
          <p:cNvSpPr/>
          <p:nvPr/>
        </p:nvSpPr>
        <p:spPr>
          <a:xfrm>
            <a:off x="10964069" y="6924675"/>
            <a:ext cx="624615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875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platform, used worldwide</a:t>
            </a:r>
            <a:endParaRPr lang="en-US" sz="1875" dirty="0"/>
          </a:p>
        </p:txBody>
      </p:sp>
      <p:sp>
        <p:nvSpPr>
          <p:cNvPr id="62" name="Text 58"/>
          <p:cNvSpPr/>
          <p:nvPr/>
        </p:nvSpPr>
        <p:spPr>
          <a:xfrm>
            <a:off x="1028700" y="7370763"/>
            <a:ext cx="2735961" cy="617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buys it</a:t>
            </a:r>
            <a:endParaRPr lang="en-US" sz="1875" dirty="0"/>
          </a:p>
        </p:txBody>
      </p:sp>
      <p:sp>
        <p:nvSpPr>
          <p:cNvPr id="63" name="Shape 59"/>
          <p:cNvSpPr/>
          <p:nvPr/>
        </p:nvSpPr>
        <p:spPr>
          <a:xfrm>
            <a:off x="3924300" y="7370763"/>
            <a:ext cx="6754019" cy="579438"/>
          </a:xfrm>
          <a:prstGeom prst="rect">
            <a:avLst/>
          </a:prstGeom>
          <a:solidFill>
            <a:srgbClr val="F8F1E4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64" name="Shape 60"/>
          <p:cNvSpPr/>
          <p:nvPr/>
        </p:nvSpPr>
        <p:spPr>
          <a:xfrm>
            <a:off x="3924300" y="7937500"/>
            <a:ext cx="6754019" cy="12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65" name="Text 61"/>
          <p:cNvSpPr/>
          <p:nvPr/>
        </p:nvSpPr>
        <p:spPr>
          <a:xfrm>
            <a:off x="4210050" y="7504113"/>
            <a:ext cx="638514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875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and run by AOT</a:t>
            </a:r>
            <a:endParaRPr lang="en-US" sz="1875" dirty="0"/>
          </a:p>
        </p:txBody>
      </p:sp>
      <p:sp>
        <p:nvSpPr>
          <p:cNvPr id="66" name="Shape 62"/>
          <p:cNvSpPr/>
          <p:nvPr/>
        </p:nvSpPr>
        <p:spPr>
          <a:xfrm>
            <a:off x="10678319" y="7370763"/>
            <a:ext cx="6619081" cy="579438"/>
          </a:xfrm>
          <a:prstGeom prst="rect">
            <a:avLst/>
          </a:prstGeom>
          <a:solidFill>
            <a:srgbClr val="E7F0F8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67" name="Shape 63"/>
          <p:cNvSpPr/>
          <p:nvPr/>
        </p:nvSpPr>
        <p:spPr>
          <a:xfrm>
            <a:off x="10678319" y="7937500"/>
            <a:ext cx="6619081" cy="12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68" name="Text 64"/>
          <p:cNvSpPr/>
          <p:nvPr/>
        </p:nvSpPr>
        <p:spPr>
          <a:xfrm>
            <a:off x="10964069" y="7504113"/>
            <a:ext cx="624615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875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Licensed by AOT from SAS</a:t>
            </a:r>
            <a:endParaRPr lang="en-US" sz="1875" dirty="0"/>
          </a:p>
        </p:txBody>
      </p:sp>
      <p:sp>
        <p:nvSpPr>
          <p:cNvPr id="69" name="Shape 65"/>
          <p:cNvSpPr/>
          <p:nvPr/>
        </p:nvSpPr>
        <p:spPr>
          <a:xfrm>
            <a:off x="990600" y="8159750"/>
            <a:ext cx="16306800" cy="793750"/>
          </a:xfrm>
          <a:prstGeom prst="roundRect">
            <a:avLst>
              <a:gd name="adj" fmla="val 19200"/>
            </a:avLst>
          </a:prstGeom>
          <a:solidFill>
            <a:srgbClr val="EBF1E1"/>
          </a:solidFill>
          <a:ln w="12700">
            <a:solidFill>
              <a:srgbClr val="CBDDB4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7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8100" y="8394700"/>
            <a:ext cx="323850" cy="323850"/>
          </a:xfrm>
          <a:prstGeom prst="rect">
            <a:avLst/>
          </a:prstGeom>
        </p:spPr>
      </p:pic>
      <p:sp>
        <p:nvSpPr>
          <p:cNvPr id="71" name="Text 66"/>
          <p:cNvSpPr/>
          <p:nvPr/>
        </p:nvSpPr>
        <p:spPr>
          <a:xfrm>
            <a:off x="1822450" y="8382000"/>
            <a:ext cx="3433763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they work together?</a:t>
            </a:r>
            <a:endParaRPr lang="en-US" sz="1950" dirty="0"/>
          </a:p>
        </p:txBody>
      </p:sp>
      <p:sp>
        <p:nvSpPr>
          <p:cNvPr id="72" name="Text 67"/>
          <p:cNvSpPr/>
          <p:nvPr/>
        </p:nvSpPr>
        <p:spPr>
          <a:xfrm>
            <a:off x="5346700" y="8382000"/>
            <a:ext cx="698525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</a:t>
            </a:r>
            <a:r>
              <a:rPr lang="en-US" sz="1950" b="1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CI360 powers the intelligence behind SAWASDEE.</a:t>
            </a:r>
            <a:endParaRPr lang="en-US" sz="1950" dirty="0"/>
          </a:p>
        </p:txBody>
      </p:sp>
      <p:sp>
        <p:nvSpPr>
          <p:cNvPr id="74" name="Shape 68"/>
          <p:cNvSpPr/>
          <p:nvPr/>
        </p:nvSpPr>
        <p:spPr>
          <a:xfrm>
            <a:off x="1847850" y="9544050"/>
            <a:ext cx="14288" cy="247650"/>
          </a:xfrm>
          <a:prstGeom prst="rect">
            <a:avLst/>
          </a:prstGeom>
          <a:solidFill>
            <a:srgbClr val="E2E7EB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75" name="Text 69"/>
          <p:cNvSpPr/>
          <p:nvPr/>
        </p:nvSpPr>
        <p:spPr>
          <a:xfrm>
            <a:off x="2033588" y="9528175"/>
            <a:ext cx="22923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76" name="Text 70"/>
          <p:cNvSpPr/>
          <p:nvPr/>
        </p:nvSpPr>
        <p:spPr>
          <a:xfrm>
            <a:off x="16470809" y="9528175"/>
            <a:ext cx="902791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8C9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08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925513"/>
            <a:ext cx="495300" cy="28575"/>
          </a:xfrm>
          <a:prstGeom prst="roundRect">
            <a:avLst>
              <a:gd name="adj" fmla="val 50000"/>
            </a:avLst>
          </a:prstGeom>
          <a:solidFill>
            <a:srgbClr val="3B6D11">
              <a:alpha val="85000"/>
            </a:srgbClr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" name="Text 1"/>
          <p:cNvSpPr/>
          <p:nvPr/>
        </p:nvSpPr>
        <p:spPr>
          <a:xfrm>
            <a:off x="1638300" y="800100"/>
            <a:ext cx="2773172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70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0600" y="1365250"/>
            <a:ext cx="1530477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Together, they create a smarter airport experience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90600" y="2984500"/>
            <a:ext cx="3690937" cy="2520950"/>
          </a:xfrm>
          <a:prstGeom prst="roundRect">
            <a:avLst>
              <a:gd name="adj" fmla="val 7557"/>
            </a:avLst>
          </a:prstGeom>
          <a:solidFill>
            <a:srgbClr val="F8F1E4"/>
          </a:solidFill>
          <a:ln w="12700">
            <a:solidFill>
              <a:srgbClr val="E8D4AE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" name="Text 4"/>
          <p:cNvSpPr/>
          <p:nvPr/>
        </p:nvSpPr>
        <p:spPr>
          <a:xfrm>
            <a:off x="1270000" y="3321050"/>
            <a:ext cx="322610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70000" y="3816350"/>
            <a:ext cx="571500" cy="571500"/>
          </a:xfrm>
          <a:prstGeom prst="roundRect">
            <a:avLst>
              <a:gd name="adj" fmla="val 25000"/>
            </a:avLst>
          </a:prstGeom>
          <a:solidFill>
            <a:srgbClr val="BA7517"/>
          </a:solidFill>
          <a:ln/>
        </p:spPr>
        <p:txBody>
          <a:bodyPr/>
          <a:lstStyle/>
          <a:p>
            <a:endParaRPr lang="th-TH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825" y="3940175"/>
            <a:ext cx="323850" cy="3238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0000" y="4578350"/>
            <a:ext cx="322610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875" b="1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Traveler opens the SAWASDEE app</a:t>
            </a:r>
            <a:endParaRPr lang="en-US" sz="1875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7738" y="4064000"/>
            <a:ext cx="361950" cy="3619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195888" y="2984500"/>
            <a:ext cx="3690937" cy="2520950"/>
          </a:xfrm>
          <a:prstGeom prst="roundRect">
            <a:avLst>
              <a:gd name="adj" fmla="val 7557"/>
            </a:avLst>
          </a:prstGeom>
          <a:solidFill>
            <a:srgbClr val="F4F6F8"/>
          </a:solidFill>
          <a:ln w="12700">
            <a:solidFill>
              <a:srgbClr val="E2E7E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2" name="Text 8"/>
          <p:cNvSpPr/>
          <p:nvPr/>
        </p:nvSpPr>
        <p:spPr>
          <a:xfrm>
            <a:off x="5475288" y="3321050"/>
            <a:ext cx="322610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5A69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5475288" y="3816350"/>
            <a:ext cx="571500" cy="571500"/>
          </a:xfrm>
          <a:prstGeom prst="roundRect">
            <a:avLst>
              <a:gd name="adj" fmla="val 25000"/>
            </a:avLst>
          </a:prstGeom>
          <a:solidFill>
            <a:srgbClr val="5A6976"/>
          </a:solidFill>
          <a:ln/>
        </p:spPr>
        <p:txBody>
          <a:bodyPr/>
          <a:lstStyle/>
          <a:p>
            <a:endParaRPr lang="th-TH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9113" y="3940175"/>
            <a:ext cx="323850" cy="3238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75288" y="4578350"/>
            <a:ext cx="322610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875" b="1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quietly shares what they do</a:t>
            </a:r>
            <a:endParaRPr lang="en-US" sz="1875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3025" y="4064000"/>
            <a:ext cx="361950" cy="36195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9401175" y="2984500"/>
            <a:ext cx="3690937" cy="2520950"/>
          </a:xfrm>
          <a:prstGeom prst="roundRect">
            <a:avLst>
              <a:gd name="adj" fmla="val 7557"/>
            </a:avLst>
          </a:prstGeom>
          <a:solidFill>
            <a:srgbClr val="E7F0F8"/>
          </a:solidFill>
          <a:ln w="12700">
            <a:solidFill>
              <a:srgbClr val="BCD3EA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8" name="Text 12"/>
          <p:cNvSpPr/>
          <p:nvPr/>
        </p:nvSpPr>
        <p:spPr>
          <a:xfrm>
            <a:off x="9680575" y="3321050"/>
            <a:ext cx="322610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022E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>
            <a:off x="9680575" y="3816350"/>
            <a:ext cx="571500" cy="571500"/>
          </a:xfrm>
          <a:prstGeom prst="roundRect">
            <a:avLst>
              <a:gd name="adj" fmla="val 25000"/>
            </a:avLst>
          </a:prstGeom>
          <a:solidFill>
            <a:srgbClr val="022E49"/>
          </a:solidFill>
          <a:ln/>
        </p:spPr>
        <p:txBody>
          <a:bodyPr/>
          <a:lstStyle/>
          <a:p>
            <a:endParaRPr lang="th-TH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4400" y="3940175"/>
            <a:ext cx="323850" cy="32385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680575" y="4578350"/>
            <a:ext cx="322610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875" b="1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CI360 analyzes and decides</a:t>
            </a:r>
            <a:endParaRPr lang="en-US" sz="1875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68313" y="4064000"/>
            <a:ext cx="361950" cy="36195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13606463" y="2984500"/>
            <a:ext cx="3690937" cy="2520950"/>
          </a:xfrm>
          <a:prstGeom prst="roundRect">
            <a:avLst>
              <a:gd name="adj" fmla="val 7557"/>
            </a:avLst>
          </a:prstGeom>
          <a:solidFill>
            <a:srgbClr val="EBF1E1"/>
          </a:solidFill>
          <a:ln w="12700">
            <a:solidFill>
              <a:srgbClr val="CBDDB4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4" name="Text 16"/>
          <p:cNvSpPr/>
          <p:nvPr/>
        </p:nvSpPr>
        <p:spPr>
          <a:xfrm>
            <a:off x="13885863" y="3321050"/>
            <a:ext cx="322610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800" dirty="0"/>
          </a:p>
        </p:txBody>
      </p:sp>
      <p:sp>
        <p:nvSpPr>
          <p:cNvPr id="25" name="Shape 17"/>
          <p:cNvSpPr/>
          <p:nvPr/>
        </p:nvSpPr>
        <p:spPr>
          <a:xfrm>
            <a:off x="13885863" y="3816350"/>
            <a:ext cx="571500" cy="571500"/>
          </a:xfrm>
          <a:prstGeom prst="roundRect">
            <a:avLst>
              <a:gd name="adj" fmla="val 25000"/>
            </a:avLst>
          </a:prstGeom>
          <a:solidFill>
            <a:srgbClr val="3B6D11"/>
          </a:solidFill>
          <a:ln/>
        </p:spPr>
        <p:txBody>
          <a:bodyPr/>
          <a:lstStyle/>
          <a:p>
            <a:endParaRPr lang="th-TH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09688" y="3940175"/>
            <a:ext cx="323850" cy="32385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3885863" y="4578350"/>
            <a:ext cx="322610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875" b="1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personal offer returns in real time</a:t>
            </a:r>
            <a:endParaRPr lang="en-US" sz="1875" dirty="0"/>
          </a:p>
        </p:txBody>
      </p:sp>
      <p:sp>
        <p:nvSpPr>
          <p:cNvPr id="28" name="Shape 19"/>
          <p:cNvSpPr/>
          <p:nvPr/>
        </p:nvSpPr>
        <p:spPr>
          <a:xfrm>
            <a:off x="990600" y="5772150"/>
            <a:ext cx="16306800" cy="1649611"/>
          </a:xfrm>
          <a:prstGeom prst="roundRect">
            <a:avLst>
              <a:gd name="adj" fmla="val 10393"/>
            </a:avLst>
          </a:prstGeom>
          <a:solidFill>
            <a:srgbClr val="022E49"/>
          </a:solidFill>
          <a:ln/>
        </p:spPr>
        <p:txBody>
          <a:bodyPr/>
          <a:lstStyle/>
          <a:p>
            <a:endParaRPr lang="th-TH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600" y="6377880"/>
            <a:ext cx="438150" cy="43815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2057400" y="6057900"/>
            <a:ext cx="15304770" cy="11162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Somchai </a:t>
            </a:r>
            <a:r>
              <a:rPr lang="en-US" sz="1950" dirty="0">
                <a:solidFill>
                  <a:srgbClr val="EA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 every Friday and always buys coffee near Gate D. CI360 notices he hasn't used his loyalty points in 3 months. Before he reaches the terminal, SAWASDEE sends a personal coffee discount. He redeems it. </a:t>
            </a:r>
            <a:r>
              <a:rPr lang="en-US" sz="1950" b="1" dirty="0">
                <a:solidFill>
                  <a:srgbClr val="F0B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AOT earns more. Somchai feels valued.</a:t>
            </a:r>
            <a:endParaRPr lang="en-US" sz="1950" dirty="0"/>
          </a:p>
        </p:txBody>
      </p:sp>
      <p:sp>
        <p:nvSpPr>
          <p:cNvPr id="32" name="Shape 21"/>
          <p:cNvSpPr/>
          <p:nvPr/>
        </p:nvSpPr>
        <p:spPr>
          <a:xfrm>
            <a:off x="1847850" y="9544050"/>
            <a:ext cx="14288" cy="247650"/>
          </a:xfrm>
          <a:prstGeom prst="rect">
            <a:avLst/>
          </a:prstGeom>
          <a:solidFill>
            <a:srgbClr val="E2E7EB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3" name="Text 22"/>
          <p:cNvSpPr/>
          <p:nvPr/>
        </p:nvSpPr>
        <p:spPr>
          <a:xfrm>
            <a:off x="2033588" y="9528175"/>
            <a:ext cx="22923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34" name="Text 23"/>
          <p:cNvSpPr/>
          <p:nvPr/>
        </p:nvSpPr>
        <p:spPr>
          <a:xfrm>
            <a:off x="16470809" y="9528175"/>
            <a:ext cx="902791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8C9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08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" name="Shape 1"/>
          <p:cNvSpPr/>
          <p:nvPr/>
        </p:nvSpPr>
        <p:spPr>
          <a:xfrm>
            <a:off x="990600" y="925513"/>
            <a:ext cx="495300" cy="28575"/>
          </a:xfrm>
          <a:prstGeom prst="roundRect">
            <a:avLst>
              <a:gd name="adj" fmla="val 50000"/>
            </a:avLst>
          </a:prstGeom>
          <a:solidFill>
            <a:srgbClr val="1C6FB3">
              <a:alpha val="85000"/>
            </a:srgbClr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" name="Text 2"/>
          <p:cNvSpPr/>
          <p:nvPr/>
        </p:nvSpPr>
        <p:spPr>
          <a:xfrm>
            <a:off x="1638300" y="800100"/>
            <a:ext cx="3164376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70" dirty="0">
                <a:solidFill>
                  <a:srgbClr val="1C6F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HAPPENING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365250"/>
            <a:ext cx="1530477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Airports and airlines already doing this with CI360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990600" y="2984500"/>
            <a:ext cx="8001000" cy="5321300"/>
          </a:xfrm>
          <a:prstGeom prst="roundRect">
            <a:avLst>
              <a:gd name="adj" fmla="val 3938"/>
            </a:avLst>
          </a:prstGeom>
          <a:solidFill>
            <a:srgbClr val="FFFFFF"/>
          </a:solidFill>
          <a:ln w="12700">
            <a:solidFill>
              <a:srgbClr val="E2E7E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" name="Shape 5"/>
          <p:cNvSpPr/>
          <p:nvPr/>
        </p:nvSpPr>
        <p:spPr>
          <a:xfrm>
            <a:off x="1441450" y="3416300"/>
            <a:ext cx="666750" cy="666750"/>
          </a:xfrm>
          <a:prstGeom prst="roundRect">
            <a:avLst>
              <a:gd name="adj" fmla="val 22857"/>
            </a:avLst>
          </a:prstGeom>
          <a:solidFill>
            <a:srgbClr val="022E49"/>
          </a:solidFill>
          <a:ln/>
        </p:spPr>
        <p:txBody>
          <a:bodyPr/>
          <a:lstStyle/>
          <a:p>
            <a:endParaRPr lang="th-TH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850" y="3568700"/>
            <a:ext cx="361950" cy="3619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98700" y="3424535"/>
            <a:ext cx="335139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kern="0" spc="-24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iGA Istanbul Airport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2298700" y="3782616"/>
            <a:ext cx="3351393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5A69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Turkey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441450" y="4311650"/>
            <a:ext cx="7312279" cy="701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950" dirty="0">
                <a:solidFill>
                  <a:srgbClr val="5A69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Turned its mobile app into a personalized engagement platform, tailoring each traveler's experience.</a:t>
            </a:r>
            <a:endParaRPr lang="en-US" sz="1950" dirty="0"/>
          </a:p>
        </p:txBody>
      </p:sp>
      <p:sp>
        <p:nvSpPr>
          <p:cNvPr id="12" name="Shape 9"/>
          <p:cNvSpPr/>
          <p:nvPr/>
        </p:nvSpPr>
        <p:spPr>
          <a:xfrm>
            <a:off x="1441450" y="6858000"/>
            <a:ext cx="7099300" cy="1016000"/>
          </a:xfrm>
          <a:prstGeom prst="roundRect">
            <a:avLst>
              <a:gd name="adj" fmla="val 13125"/>
            </a:avLst>
          </a:prstGeom>
          <a:solidFill>
            <a:srgbClr val="EBF1E1"/>
          </a:solidFill>
          <a:ln w="12700">
            <a:solidFill>
              <a:srgbClr val="CBDDB4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3" name="Text 10"/>
          <p:cNvSpPr/>
          <p:nvPr/>
        </p:nvSpPr>
        <p:spPr>
          <a:xfrm>
            <a:off x="1701800" y="7080250"/>
            <a:ext cx="116185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939852" y="7061200"/>
            <a:ext cx="550076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875" b="1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 revenue increase and double-digit growth in fast-track service take-up.</a:t>
            </a:r>
            <a:endParaRPr lang="en-US" sz="1875" dirty="0"/>
          </a:p>
        </p:txBody>
      </p:sp>
      <p:sp>
        <p:nvSpPr>
          <p:cNvPr id="15" name="Shape 12"/>
          <p:cNvSpPr/>
          <p:nvPr/>
        </p:nvSpPr>
        <p:spPr>
          <a:xfrm>
            <a:off x="9296400" y="2984500"/>
            <a:ext cx="8001000" cy="5321300"/>
          </a:xfrm>
          <a:prstGeom prst="roundRect">
            <a:avLst>
              <a:gd name="adj" fmla="val 3938"/>
            </a:avLst>
          </a:prstGeom>
          <a:solidFill>
            <a:srgbClr val="FFFFFF"/>
          </a:solidFill>
          <a:ln w="12700">
            <a:solidFill>
              <a:srgbClr val="E2E7EB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6" name="Shape 13"/>
          <p:cNvSpPr/>
          <p:nvPr/>
        </p:nvSpPr>
        <p:spPr>
          <a:xfrm>
            <a:off x="9747250" y="3416300"/>
            <a:ext cx="5010150" cy="457200"/>
          </a:xfrm>
          <a:prstGeom prst="roundRect">
            <a:avLst>
              <a:gd name="adj" fmla="val 50000"/>
            </a:avLst>
          </a:prstGeom>
          <a:solidFill>
            <a:srgbClr val="F8F1E4"/>
          </a:solidFill>
          <a:ln w="12700">
            <a:solidFill>
              <a:srgbClr val="E8D4AE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2351" y="3540125"/>
            <a:ext cx="209550" cy="20955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217151" y="3505200"/>
            <a:ext cx="4506404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1st Place — SAS 2024 Customer Awards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9747250" y="4044950"/>
            <a:ext cx="666750" cy="666750"/>
          </a:xfrm>
          <a:prstGeom prst="roundRect">
            <a:avLst>
              <a:gd name="adj" fmla="val 22857"/>
            </a:avLst>
          </a:prstGeom>
          <a:solidFill>
            <a:srgbClr val="022E49"/>
          </a:solidFill>
          <a:ln/>
        </p:spPr>
        <p:txBody>
          <a:bodyPr/>
          <a:lstStyle/>
          <a:p>
            <a:endParaRPr lang="th-TH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9650" y="4197350"/>
            <a:ext cx="361950" cy="36195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604500" y="4053185"/>
            <a:ext cx="2814561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kern="0" spc="-24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Pegasus Airlines</a:t>
            </a:r>
            <a:endParaRPr lang="en-US" sz="2400" dirty="0"/>
          </a:p>
        </p:txBody>
      </p:sp>
      <p:sp>
        <p:nvSpPr>
          <p:cNvPr id="22" name="Text 17"/>
          <p:cNvSpPr/>
          <p:nvPr/>
        </p:nvSpPr>
        <p:spPr>
          <a:xfrm>
            <a:off x="10604500" y="4411266"/>
            <a:ext cx="2814561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5A69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Turkey</a:t>
            </a:r>
            <a:endParaRPr lang="en-US" sz="1950" dirty="0"/>
          </a:p>
        </p:txBody>
      </p:sp>
      <p:sp>
        <p:nvSpPr>
          <p:cNvPr id="23" name="Text 18"/>
          <p:cNvSpPr/>
          <p:nvPr/>
        </p:nvSpPr>
        <p:spPr>
          <a:xfrm>
            <a:off x="9747250" y="4940300"/>
            <a:ext cx="7312279" cy="701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950" dirty="0">
                <a:solidFill>
                  <a:srgbClr val="5A69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CI360 to segment passengers and personalize every communication.</a:t>
            </a:r>
            <a:endParaRPr lang="en-US" sz="1950" dirty="0"/>
          </a:p>
        </p:txBody>
      </p:sp>
      <p:sp>
        <p:nvSpPr>
          <p:cNvPr id="24" name="Shape 19"/>
          <p:cNvSpPr/>
          <p:nvPr/>
        </p:nvSpPr>
        <p:spPr>
          <a:xfrm>
            <a:off x="9747250" y="6858000"/>
            <a:ext cx="7099300" cy="1016000"/>
          </a:xfrm>
          <a:prstGeom prst="roundRect">
            <a:avLst>
              <a:gd name="adj" fmla="val 13125"/>
            </a:avLst>
          </a:prstGeom>
          <a:solidFill>
            <a:srgbClr val="EBF1E1"/>
          </a:solidFill>
          <a:ln w="12700">
            <a:solidFill>
              <a:srgbClr val="CBDDB4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5" name="Text 20"/>
          <p:cNvSpPr/>
          <p:nvPr/>
        </p:nvSpPr>
        <p:spPr>
          <a:xfrm>
            <a:off x="10007601" y="7080250"/>
            <a:ext cx="116185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11245652" y="7061200"/>
            <a:ext cx="550076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875" b="1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 revenue contribution and higher guest satisfaction.</a:t>
            </a:r>
            <a:endParaRPr lang="en-US" sz="1875" dirty="0"/>
          </a:p>
        </p:txBody>
      </p:sp>
      <p:sp>
        <p:nvSpPr>
          <p:cNvPr id="27" name="Text 22"/>
          <p:cNvSpPr/>
          <p:nvPr/>
        </p:nvSpPr>
        <p:spPr>
          <a:xfrm>
            <a:off x="990600" y="8534400"/>
            <a:ext cx="167960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C9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— sas.com/customers (official SAS published case studies)</a:t>
            </a:r>
            <a:endParaRPr lang="en-US" sz="1800" dirty="0"/>
          </a:p>
        </p:txBody>
      </p:sp>
      <p:sp>
        <p:nvSpPr>
          <p:cNvPr id="29" name="Shape 23"/>
          <p:cNvSpPr/>
          <p:nvPr/>
        </p:nvSpPr>
        <p:spPr>
          <a:xfrm>
            <a:off x="1847850" y="9544050"/>
            <a:ext cx="14288" cy="247650"/>
          </a:xfrm>
          <a:prstGeom prst="rect">
            <a:avLst/>
          </a:prstGeom>
          <a:solidFill>
            <a:srgbClr val="E2E7EB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0" name="Text 24"/>
          <p:cNvSpPr/>
          <p:nvPr/>
        </p:nvSpPr>
        <p:spPr>
          <a:xfrm>
            <a:off x="2033588" y="9486900"/>
            <a:ext cx="2278062" cy="358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31" name="Text 25"/>
          <p:cNvSpPr/>
          <p:nvPr/>
        </p:nvSpPr>
        <p:spPr>
          <a:xfrm>
            <a:off x="16470809" y="9528175"/>
            <a:ext cx="902791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8C9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08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925513"/>
            <a:ext cx="495300" cy="28575"/>
          </a:xfrm>
          <a:prstGeom prst="roundRect">
            <a:avLst>
              <a:gd name="adj" fmla="val 50000"/>
            </a:avLst>
          </a:prstGeom>
          <a:solidFill>
            <a:srgbClr val="3B6D11">
              <a:alpha val="85000"/>
            </a:srgbClr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" name="Text 1"/>
          <p:cNvSpPr/>
          <p:nvPr/>
        </p:nvSpPr>
        <p:spPr>
          <a:xfrm>
            <a:off x="1638300" y="800100"/>
            <a:ext cx="4454081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70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CASE FOR AOT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0600" y="1365250"/>
            <a:ext cx="1530477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CI360 could mean for AOT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90600" y="2384425"/>
            <a:ext cx="5257800" cy="6645275"/>
          </a:xfrm>
          <a:prstGeom prst="roundRect">
            <a:avLst>
              <a:gd name="adj" fmla="val 3986"/>
            </a:avLst>
          </a:prstGeom>
          <a:solidFill>
            <a:srgbClr val="EBF1E1"/>
          </a:solidFill>
          <a:ln w="12700">
            <a:solidFill>
              <a:srgbClr val="CBDDB4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 4"/>
          <p:cNvSpPr/>
          <p:nvPr/>
        </p:nvSpPr>
        <p:spPr>
          <a:xfrm>
            <a:off x="1384300" y="2835275"/>
            <a:ext cx="685800" cy="685800"/>
          </a:xfrm>
          <a:prstGeom prst="roundRect">
            <a:avLst>
              <a:gd name="adj" fmla="val 22222"/>
            </a:avLst>
          </a:prstGeom>
          <a:solidFill>
            <a:srgbClr val="3B6D11"/>
          </a:solidFill>
          <a:ln/>
        </p:spPr>
        <p:txBody>
          <a:bodyPr/>
          <a:lstStyle/>
          <a:p>
            <a:endParaRPr lang="th-TH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6225" y="2997200"/>
            <a:ext cx="361950" cy="3619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84300" y="3825875"/>
            <a:ext cx="460451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kern="0" spc="-25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revenue</a:t>
            </a:r>
            <a:endParaRPr lang="en-US" sz="2475" dirty="0"/>
          </a:p>
        </p:txBody>
      </p:sp>
      <p:sp>
        <p:nvSpPr>
          <p:cNvPr id="9" name="Text 6"/>
          <p:cNvSpPr/>
          <p:nvPr/>
        </p:nvSpPr>
        <p:spPr>
          <a:xfrm>
            <a:off x="1384300" y="4397375"/>
            <a:ext cx="4604512" cy="1169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b="1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passengers who are drifting away before they stop coming.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6515100" y="2384425"/>
            <a:ext cx="5257800" cy="6645275"/>
          </a:xfrm>
          <a:prstGeom prst="roundRect">
            <a:avLst>
              <a:gd name="adj" fmla="val 3986"/>
            </a:avLst>
          </a:prstGeom>
          <a:solidFill>
            <a:srgbClr val="EBF1E1"/>
          </a:solidFill>
          <a:ln w="12700">
            <a:solidFill>
              <a:srgbClr val="CBDDB4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1" name="Shape 8"/>
          <p:cNvSpPr/>
          <p:nvPr/>
        </p:nvSpPr>
        <p:spPr>
          <a:xfrm>
            <a:off x="6908800" y="2835275"/>
            <a:ext cx="685800" cy="685800"/>
          </a:xfrm>
          <a:prstGeom prst="roundRect">
            <a:avLst>
              <a:gd name="adj" fmla="val 22222"/>
            </a:avLst>
          </a:prstGeom>
          <a:solidFill>
            <a:srgbClr val="3B6D11"/>
          </a:solidFill>
          <a:ln/>
        </p:spPr>
        <p:txBody>
          <a:bodyPr/>
          <a:lstStyle/>
          <a:p>
            <a:endParaRPr lang="th-TH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0725" y="2997200"/>
            <a:ext cx="361950" cy="3619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08800" y="3825875"/>
            <a:ext cx="460451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kern="0" spc="-25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spend</a:t>
            </a:r>
            <a:endParaRPr lang="en-US" sz="2475" dirty="0"/>
          </a:p>
        </p:txBody>
      </p:sp>
      <p:sp>
        <p:nvSpPr>
          <p:cNvPr id="14" name="Text 10"/>
          <p:cNvSpPr/>
          <p:nvPr/>
        </p:nvSpPr>
        <p:spPr>
          <a:xfrm>
            <a:off x="6908800" y="4397375"/>
            <a:ext cx="4604512" cy="1169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b="1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the right retail or dining offer to the right passenger, at the right moment.</a:t>
            </a:r>
            <a:endParaRPr lang="en-US" sz="2250" dirty="0"/>
          </a:p>
        </p:txBody>
      </p:sp>
      <p:sp>
        <p:nvSpPr>
          <p:cNvPr id="15" name="Shape 11"/>
          <p:cNvSpPr/>
          <p:nvPr/>
        </p:nvSpPr>
        <p:spPr>
          <a:xfrm>
            <a:off x="12039600" y="2384425"/>
            <a:ext cx="5257800" cy="6645275"/>
          </a:xfrm>
          <a:prstGeom prst="roundRect">
            <a:avLst>
              <a:gd name="adj" fmla="val 3986"/>
            </a:avLst>
          </a:prstGeom>
          <a:solidFill>
            <a:srgbClr val="EBF1E1"/>
          </a:solidFill>
          <a:ln w="12700">
            <a:solidFill>
              <a:srgbClr val="CBDDB4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6" name="Shape 12"/>
          <p:cNvSpPr/>
          <p:nvPr/>
        </p:nvSpPr>
        <p:spPr>
          <a:xfrm>
            <a:off x="12433300" y="2835275"/>
            <a:ext cx="685800" cy="685800"/>
          </a:xfrm>
          <a:prstGeom prst="roundRect">
            <a:avLst>
              <a:gd name="adj" fmla="val 22222"/>
            </a:avLst>
          </a:prstGeom>
          <a:solidFill>
            <a:srgbClr val="3B6D11"/>
          </a:solidFill>
          <a:ln/>
        </p:spPr>
        <p:txBody>
          <a:bodyPr/>
          <a:lstStyle/>
          <a:p>
            <a:endParaRPr lang="th-TH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95225" y="2997200"/>
            <a:ext cx="361950" cy="3619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433300" y="3825875"/>
            <a:ext cx="460451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kern="0" spc="-25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loyalty</a:t>
            </a:r>
            <a:endParaRPr lang="en-US" sz="2475" dirty="0"/>
          </a:p>
        </p:txBody>
      </p:sp>
      <p:sp>
        <p:nvSpPr>
          <p:cNvPr id="19" name="Text 14"/>
          <p:cNvSpPr/>
          <p:nvPr/>
        </p:nvSpPr>
        <p:spPr>
          <a:xfrm>
            <a:off x="12433300" y="4397375"/>
            <a:ext cx="4604512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b="1" dirty="0">
                <a:solidFill>
                  <a:srgbClr val="15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every traveler feel like AOT knows them personally.</a:t>
            </a:r>
            <a:endParaRPr lang="en-US" sz="2250" dirty="0"/>
          </a:p>
        </p:txBody>
      </p:sp>
      <p:sp>
        <p:nvSpPr>
          <p:cNvPr id="21" name="Shape 15"/>
          <p:cNvSpPr/>
          <p:nvPr/>
        </p:nvSpPr>
        <p:spPr>
          <a:xfrm>
            <a:off x="1847850" y="9544050"/>
            <a:ext cx="14288" cy="247650"/>
          </a:xfrm>
          <a:prstGeom prst="rect">
            <a:avLst/>
          </a:prstGeom>
          <a:solidFill>
            <a:srgbClr val="E2E7EB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3" name="Text 17"/>
          <p:cNvSpPr/>
          <p:nvPr/>
        </p:nvSpPr>
        <p:spPr>
          <a:xfrm>
            <a:off x="16470809" y="9528175"/>
            <a:ext cx="902791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8C9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08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21726">
              <a:alpha val="95000"/>
            </a:srgbClr>
          </a:solidFill>
          <a:ln/>
        </p:spPr>
        <p:txBody>
          <a:bodyPr/>
          <a:lstStyle/>
          <a:p>
            <a:endParaRPr lang="th-TH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762000"/>
            <a:ext cx="914400" cy="381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806910" y="812800"/>
            <a:ext cx="256669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990600" y="5515372"/>
            <a:ext cx="533400" cy="28575"/>
          </a:xfrm>
          <a:prstGeom prst="roundRect">
            <a:avLst>
              <a:gd name="adj" fmla="val 50000"/>
            </a:avLst>
          </a:prstGeom>
          <a:solidFill>
            <a:srgbClr val="6FC7E8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7" name="Text 3"/>
          <p:cNvSpPr/>
          <p:nvPr/>
        </p:nvSpPr>
        <p:spPr>
          <a:xfrm>
            <a:off x="1676400" y="5389959"/>
            <a:ext cx="368363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6F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GOES NEXT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990600" y="5936060"/>
            <a:ext cx="14519910" cy="17021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300" b="1" kern="0" spc="-15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SAWASDEE is already the </a:t>
            </a:r>
            <a:r>
              <a:rPr lang="en-US" sz="6300" b="1" kern="0" spc="-158" dirty="0">
                <a:solidFill>
                  <a:srgbClr val="F0B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</a:t>
            </a:r>
            <a:r>
              <a:rPr lang="en-US" sz="6300" b="1" kern="0" spc="-15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CI360 becomes the </a:t>
            </a:r>
            <a:r>
              <a:rPr lang="en-US" sz="6300" b="1" kern="0" spc="-158" dirty="0">
                <a:solidFill>
                  <a:srgbClr val="6F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</a:t>
            </a:r>
            <a:r>
              <a:rPr lang="en-US" sz="6300" b="1" kern="0" spc="-15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6300" dirty="0"/>
          </a:p>
        </p:txBody>
      </p:sp>
      <p:sp>
        <p:nvSpPr>
          <p:cNvPr id="9" name="Text 5"/>
          <p:cNvSpPr/>
          <p:nvPr/>
        </p:nvSpPr>
        <p:spPr>
          <a:xfrm>
            <a:off x="990600" y="7904956"/>
            <a:ext cx="11576685" cy="1505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2850" dirty="0">
                <a:solidFill>
                  <a:srgbClr val="FFFFFF">
                    <a:alpha val="8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is not </a:t>
            </a: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</a:t>
            </a:r>
            <a:r>
              <a:rPr lang="en-US" sz="2850" dirty="0">
                <a:solidFill>
                  <a:srgbClr val="FFFFFF">
                    <a:alpha val="8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AOT needs intelligent customer engagement. The question is </a:t>
            </a: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r>
              <a:rPr lang="en-US" sz="2850" dirty="0">
                <a:solidFill>
                  <a:srgbClr val="FFFFFF">
                    <a:alpha val="8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850" dirty="0"/>
          </a:p>
        </p:txBody>
      </p:sp>
      <p:sp>
        <p:nvSpPr>
          <p:cNvPr id="10" name="Text 6"/>
          <p:cNvSpPr/>
          <p:nvPr/>
        </p:nvSpPr>
        <p:spPr>
          <a:xfrm>
            <a:off x="16470809" y="9474200"/>
            <a:ext cx="902791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08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562</Words>
  <Application>Microsoft Office PowerPoint</Application>
  <PresentationFormat>Custom</PresentationFormat>
  <Paragraphs>110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Thunyakorn (Big Data) Pongsavakul</cp:lastModifiedBy>
  <cp:revision>2</cp:revision>
  <dcterms:created xsi:type="dcterms:W3CDTF">2026-06-10T02:52:18Z</dcterms:created>
  <dcterms:modified xsi:type="dcterms:W3CDTF">2026-06-10T02:54:26Z</dcterms:modified>
</cp:coreProperties>
</file>